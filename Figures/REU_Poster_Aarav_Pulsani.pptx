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950075"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gSco0N/vL/GJ4g0PJGs4Gp46BF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3" autoAdjust="0"/>
    <p:restoredTop sz="94660"/>
  </p:normalViewPr>
  <p:slideViewPr>
    <p:cSldViewPr snapToGrid="0">
      <p:cViewPr>
        <p:scale>
          <a:sx n="33" d="100"/>
          <a:sy n="33" d="100"/>
        </p:scale>
        <p:origin x="-996" y="-1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Flipped to van (ASR)</c:v>
                </c:pt>
              </c:strCache>
            </c:strRef>
          </c:tx>
          <c:spPr>
            <a:solidFill>
              <a:srgbClr val="1565C0"/>
            </a:solidFill>
          </c:spPr>
          <c:invertIfNegative val="1"/>
          <c:dLbls>
            <c:numFmt formatCode="0.0%" sourceLinked="0"/>
            <c:spPr>
              <a:noFill/>
              <a:ln>
                <a:noFill/>
              </a:ln>
              <a:effectLst/>
            </c:spPr>
            <c:txPr>
              <a:bodyPr/>
              <a:lstStyle/>
              <a:p>
                <a:pPr>
                  <a:defRPr sz="2400" b="1">
                    <a:solidFill>
                      <a:srgbClr val="FFFFFF"/>
                    </a:solidFill>
                    <a:latin typeface="Times New Roman"/>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c:v>
                </c:pt>
                <c:pt idx="1">
                  <c:v>20% / 0°</c:v>
                </c:pt>
                <c:pt idx="2">
                  <c:v>20% / ±20°</c:v>
                </c:pt>
                <c:pt idx="3">
                  <c:v>20% / ±45°</c:v>
                </c:pt>
                <c:pt idx="4">
                  <c:v>Offset / ±20°</c:v>
                </c:pt>
                <c:pt idx="5">
                  <c:v>10% / ±20°</c:v>
                </c:pt>
              </c:strCache>
            </c:strRef>
          </c:cat>
          <c:val>
            <c:numRef>
              <c:f>Sheet1!$B$2:$B$7</c:f>
              <c:numCache>
                <c:formatCode>General</c:formatCode>
                <c:ptCount val="6"/>
                <c:pt idx="1">
                  <c:v>0.22700000000000001</c:v>
                </c:pt>
                <c:pt idx="2">
                  <c:v>0.21099999999999999</c:v>
                </c:pt>
                <c:pt idx="3">
                  <c:v>0.20499999999999999</c:v>
                </c:pt>
                <c:pt idx="4">
                  <c:v>0.21299999999999999</c:v>
                </c:pt>
                <c:pt idx="5">
                  <c:v>0.17899999999999999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DD1-4400-8274-EFB990EC9588}"/>
            </c:ext>
          </c:extLst>
        </c:ser>
        <c:ser>
          <c:idx val="1"/>
          <c:order val="1"/>
          <c:tx>
            <c:strRef>
              <c:f>Sheet1!$C$1</c:f>
              <c:strCache>
                <c:ptCount val="1"/>
                <c:pt idx="0">
                  <c:v>Vanished (VR)</c:v>
                </c:pt>
              </c:strCache>
            </c:strRef>
          </c:tx>
          <c:spPr>
            <a:solidFill>
              <a:srgbClr val="C62828"/>
            </a:solidFill>
          </c:spPr>
          <c:invertIfNegative val="1"/>
          <c:dLbls>
            <c:numFmt formatCode="0.0%" sourceLinked="0"/>
            <c:spPr>
              <a:noFill/>
              <a:ln>
                <a:noFill/>
              </a:ln>
              <a:effectLst/>
            </c:spPr>
            <c:txPr>
              <a:bodyPr/>
              <a:lstStyle/>
              <a:p>
                <a:pPr>
                  <a:defRPr sz="2400" b="1">
                    <a:solidFill>
                      <a:srgbClr val="FFFFFF"/>
                    </a:solidFill>
                    <a:latin typeface="Times New Roman"/>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c:v>
                </c:pt>
                <c:pt idx="1">
                  <c:v>20% / 0°</c:v>
                </c:pt>
                <c:pt idx="2">
                  <c:v>20% / ±20°</c:v>
                </c:pt>
                <c:pt idx="3">
                  <c:v>20% / ±45°</c:v>
                </c:pt>
                <c:pt idx="4">
                  <c:v>Offset / ±20°</c:v>
                </c:pt>
                <c:pt idx="5">
                  <c:v>10% / ±20°</c:v>
                </c:pt>
              </c:strCache>
            </c:strRef>
          </c:cat>
          <c:val>
            <c:numRef>
              <c:f>Sheet1!$C$2:$C$7</c:f>
              <c:numCache>
                <c:formatCode>General</c:formatCode>
                <c:ptCount val="6"/>
                <c:pt idx="1">
                  <c:v>0.48399999999999999</c:v>
                </c:pt>
                <c:pt idx="2">
                  <c:v>0.48399999999999999</c:v>
                </c:pt>
                <c:pt idx="3">
                  <c:v>0.36499999999999999</c:v>
                </c:pt>
                <c:pt idx="4">
                  <c:v>0.221</c:v>
                </c:pt>
                <c:pt idx="5">
                  <c:v>0.21199999999999999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DD1-4400-8274-EFB990EC9588}"/>
            </c:ext>
          </c:extLst>
        </c:ser>
        <c:ser>
          <c:idx val="2"/>
          <c:order val="2"/>
          <c:tx>
            <c:strRef>
              <c:f>Sheet1!$D$1</c:f>
              <c:strCache>
                <c:ptCount val="1"/>
                <c:pt idx="0">
                  <c:v>Still a car (RAcc)</c:v>
                </c:pt>
              </c:strCache>
            </c:strRef>
          </c:tx>
          <c:spPr>
            <a:solidFill>
              <a:srgbClr val="2E7D32"/>
            </a:solidFill>
          </c:spPr>
          <c:invertIfNegative val="1"/>
          <c:dLbls>
            <c:numFmt formatCode="0.0%" sourceLinked="0"/>
            <c:spPr>
              <a:noFill/>
              <a:ln>
                <a:noFill/>
              </a:ln>
              <a:effectLst/>
            </c:spPr>
            <c:txPr>
              <a:bodyPr/>
              <a:lstStyle/>
              <a:p>
                <a:pPr>
                  <a:defRPr sz="2400" b="1">
                    <a:solidFill>
                      <a:srgbClr val="FFFFFF"/>
                    </a:solidFill>
                    <a:latin typeface="Times New Roman"/>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c:v>
                </c:pt>
                <c:pt idx="1">
                  <c:v>20% / 0°</c:v>
                </c:pt>
                <c:pt idx="2">
                  <c:v>20% / ±20°</c:v>
                </c:pt>
                <c:pt idx="3">
                  <c:v>20% / ±45°</c:v>
                </c:pt>
                <c:pt idx="4">
                  <c:v>Offset / ±20°</c:v>
                </c:pt>
                <c:pt idx="5">
                  <c:v>10% / ±20°</c:v>
                </c:pt>
              </c:strCache>
            </c:strRef>
          </c:cat>
          <c:val>
            <c:numRef>
              <c:f>Sheet1!$D$2:$D$7</c:f>
              <c:numCache>
                <c:formatCode>General</c:formatCode>
                <c:ptCount val="6"/>
                <c:pt idx="0">
                  <c:v>1</c:v>
                </c:pt>
                <c:pt idx="1">
                  <c:v>0.28899999999999998</c:v>
                </c:pt>
                <c:pt idx="2">
                  <c:v>0.30499999999999999</c:v>
                </c:pt>
                <c:pt idx="3">
                  <c:v>0.43</c:v>
                </c:pt>
                <c:pt idx="4">
                  <c:v>0.56599999999999995</c:v>
                </c:pt>
                <c:pt idx="5">
                  <c:v>0.60899999999999999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DD1-4400-8274-EFB990EC9588}"/>
            </c:ext>
          </c:extLst>
        </c:ser>
        <c:dLbls>
          <c:dLblPos val="ctr"/>
          <c:showLegendKey val="0"/>
          <c:showVal val="1"/>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2400">
                <a:solidFill>
                  <a:srgbClr val="1A1A1A"/>
                </a:solidFill>
                <a:latin typeface="Times New Roman"/>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12700">
              <a:solidFill>
                <a:srgbClr val="DDDDDD"/>
              </a:solidFill>
            </a:ln>
          </c:spPr>
        </c:majorGridlines>
        <c:numFmt formatCode="0%" sourceLinked="0"/>
        <c:majorTickMark val="out"/>
        <c:minorTickMark val="none"/>
        <c:tickLblPos val="nextTo"/>
        <c:txPr>
          <a:bodyPr/>
          <a:lstStyle/>
          <a:p>
            <a:pPr>
              <a:defRPr sz="2400">
                <a:solidFill>
                  <a:srgbClr val="1A1A1A"/>
                </a:solidFill>
                <a:latin typeface="Times New Roman"/>
              </a:defRPr>
            </a:pPr>
            <a:endParaRPr lang="en-US"/>
          </a:p>
        </c:txPr>
        <c:crossAx val="-2068027336"/>
        <c:crosses val="autoZero"/>
        <c:crossBetween val="between"/>
      </c:valAx>
    </c:plotArea>
    <c:legend>
      <c:legendPos val="b"/>
      <c:overlay val="0"/>
      <c:txPr>
        <a:bodyPr/>
        <a:lstStyle/>
        <a:p>
          <a:pPr>
            <a:defRPr sz="2400">
              <a:solidFill>
                <a:srgbClr val="1A1A1A"/>
              </a:solidFill>
              <a:latin typeface="Times New Roman"/>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car AP@0.5</c:v>
                </c:pt>
              </c:strCache>
            </c:strRef>
          </c:tx>
          <c:spPr>
            <a:ln w="44450">
              <a:solidFill>
                <a:srgbClr val="9C2334"/>
              </a:solidFill>
            </a:ln>
          </c:spPr>
          <c:marker>
            <c:symbol val="circle"/>
            <c:size val="10"/>
            <c:spPr>
              <a:solidFill>
                <a:srgbClr val="9C2334"/>
              </a:solidFill>
              <a:ln>
                <a:solidFill>
                  <a:srgbClr val="9C2334"/>
                </a:solidFill>
              </a:ln>
            </c:spPr>
          </c:marker>
          <c:dLbls>
            <c:dLbl>
              <c:idx val="0"/>
              <c:layout>
                <c:manualLayout>
                  <c:x val="5.1267710663683817E-3"/>
                  <c:y val="-1.31091219729609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6C-40C7-90CC-EE442588745C}"/>
                </c:ext>
              </c:extLst>
            </c:dLbl>
            <c:dLbl>
              <c:idx val="1"/>
              <c:layout>
                <c:manualLayout>
                  <c:x val="-3.0294556301267709E-2"/>
                  <c:y val="3.14401442744184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CC7-4CF2-A8E0-17F8F187C168}"/>
                </c:ext>
              </c:extLst>
            </c:dLbl>
            <c:dLbl>
              <c:idx val="2"/>
              <c:layout>
                <c:manualLayout>
                  <c:x val="-3.2158836689038101E-2"/>
                  <c:y val="3.9301779494544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CC7-4CF2-A8E0-17F8F187C168}"/>
                </c:ext>
              </c:extLst>
            </c:dLbl>
            <c:numFmt formatCode="0.000" sourceLinked="0"/>
            <c:spPr>
              <a:noFill/>
              <a:ln>
                <a:noFill/>
              </a:ln>
              <a:effectLst/>
            </c:spPr>
            <c:txPr>
              <a:bodyPr/>
              <a:lstStyle/>
              <a:p>
                <a:pPr>
                  <a:defRPr sz="2000" b="1">
                    <a:solidFill>
                      <a:srgbClr val="9C2334"/>
                    </a:solidFill>
                    <a:latin typeface="Times New Roman"/>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c:v>
                </c:pt>
                <c:pt idx="1">
                  <c:v>20% / 0°</c:v>
                </c:pt>
                <c:pt idx="2">
                  <c:v>20% / ±20°</c:v>
                </c:pt>
                <c:pt idx="3">
                  <c:v>20% / ±45°</c:v>
                </c:pt>
                <c:pt idx="4">
                  <c:v>Offset / ±20°</c:v>
                </c:pt>
                <c:pt idx="5">
                  <c:v>10% / ±20°</c:v>
                </c:pt>
              </c:strCache>
            </c:strRef>
          </c:cat>
          <c:val>
            <c:numRef>
              <c:f>Sheet1!$B$2:$B$7</c:f>
              <c:numCache>
                <c:formatCode>General</c:formatCode>
                <c:ptCount val="6"/>
                <c:pt idx="0">
                  <c:v>0.63900000000000001</c:v>
                </c:pt>
                <c:pt idx="1">
                  <c:v>6.3E-2</c:v>
                </c:pt>
                <c:pt idx="2">
                  <c:v>6.8000000000000005E-2</c:v>
                </c:pt>
                <c:pt idx="3">
                  <c:v>0.13600000000000001</c:v>
                </c:pt>
                <c:pt idx="4">
                  <c:v>0.253</c:v>
                </c:pt>
                <c:pt idx="5">
                  <c:v>0.26500000000000001</c:v>
                </c:pt>
              </c:numCache>
            </c:numRef>
          </c:val>
          <c:smooth val="0"/>
          <c:extLst>
            <c:ext xmlns:c16="http://schemas.microsoft.com/office/drawing/2014/chart" uri="{C3380CC4-5D6E-409C-BE32-E72D297353CC}">
              <c16:uniqueId val="{00000002-1CC7-4CF2-A8E0-17F8F187C168}"/>
            </c:ext>
          </c:extLst>
        </c:ser>
        <c:ser>
          <c:idx val="1"/>
          <c:order val="1"/>
          <c:tx>
            <c:strRef>
              <c:f>Sheet1!$C$1</c:f>
              <c:strCache>
                <c:ptCount val="1"/>
                <c:pt idx="0">
                  <c:v>mAP@0.5</c:v>
                </c:pt>
              </c:strCache>
            </c:strRef>
          </c:tx>
          <c:spPr>
            <a:ln w="44450">
              <a:solidFill>
                <a:schemeClr val="accent1">
                  <a:lumMod val="75000"/>
                </a:schemeClr>
              </a:solidFill>
              <a:prstDash val="sysDot"/>
            </a:ln>
          </c:spPr>
          <c:marker>
            <c:symbol val="triangle"/>
            <c:size val="10"/>
            <c:spPr>
              <a:solidFill>
                <a:schemeClr val="accent1">
                  <a:lumMod val="75000"/>
                </a:schemeClr>
              </a:solidFill>
              <a:ln>
                <a:solidFill>
                  <a:schemeClr val="accent1">
                    <a:lumMod val="75000"/>
                  </a:schemeClr>
                </a:solidFill>
                <a:prstDash val="sysDot"/>
              </a:ln>
            </c:spPr>
          </c:marker>
          <c:dLbls>
            <c:dLbl>
              <c:idx val="0"/>
              <c:tx>
                <c:rich>
                  <a:bodyPr/>
                  <a:lstStyle/>
                  <a:p>
                    <a:fld id="{98189C83-C9FC-47CD-BC86-3757C0F7DD4E}" type="VALUE">
                      <a:rPr lang="en-US">
                        <a:solidFill>
                          <a:schemeClr val="accent1">
                            <a:lumMod val="75000"/>
                          </a:schemeClr>
                        </a:solidFill>
                      </a:rPr>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F6C-40C7-90CC-EE442588745C}"/>
                </c:ext>
              </c:extLst>
            </c:dLbl>
            <c:numFmt formatCode="0.000" sourceLinked="0"/>
            <c:spPr>
              <a:noFill/>
              <a:ln>
                <a:noFill/>
              </a:ln>
              <a:effectLst/>
            </c:spPr>
            <c:txPr>
              <a:bodyPr/>
              <a:lstStyle/>
              <a:p>
                <a:pPr>
                  <a:defRPr sz="2000" b="1">
                    <a:solidFill>
                      <a:schemeClr val="accent1">
                        <a:lumMod val="75000"/>
                      </a:schemeClr>
                    </a:solidFill>
                    <a:latin typeface="Times New Roman"/>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c:v>
                </c:pt>
                <c:pt idx="1">
                  <c:v>20% / 0°</c:v>
                </c:pt>
                <c:pt idx="2">
                  <c:v>20% / ±20°</c:v>
                </c:pt>
                <c:pt idx="3">
                  <c:v>20% / ±45°</c:v>
                </c:pt>
                <c:pt idx="4">
                  <c:v>Offset / ±20°</c:v>
                </c:pt>
                <c:pt idx="5">
                  <c:v>10% / ±20°</c:v>
                </c:pt>
              </c:strCache>
            </c:strRef>
          </c:cat>
          <c:val>
            <c:numRef>
              <c:f>Sheet1!$C$2:$C$7</c:f>
              <c:numCache>
                <c:formatCode>General</c:formatCode>
                <c:ptCount val="6"/>
                <c:pt idx="0">
                  <c:v>0.36899999999999999</c:v>
                </c:pt>
                <c:pt idx="1">
                  <c:v>0.221</c:v>
                </c:pt>
                <c:pt idx="2">
                  <c:v>0.219</c:v>
                </c:pt>
                <c:pt idx="3">
                  <c:v>0.23799999999999999</c:v>
                </c:pt>
                <c:pt idx="4">
                  <c:v>0.25600000000000001</c:v>
                </c:pt>
                <c:pt idx="5">
                  <c:v>0.27500000000000002</c:v>
                </c:pt>
              </c:numCache>
            </c:numRef>
          </c:val>
          <c:smooth val="0"/>
          <c:extLst>
            <c:ext xmlns:c16="http://schemas.microsoft.com/office/drawing/2014/chart" uri="{C3380CC4-5D6E-409C-BE32-E72D297353CC}">
              <c16:uniqueId val="{00000003-1CC7-4CF2-A8E0-17F8F187C16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2400">
                <a:solidFill>
                  <a:srgbClr val="1A1A1A"/>
                </a:solidFill>
                <a:latin typeface="Times New Roman"/>
              </a:defRPr>
            </a:pPr>
            <a:endParaRPr lang="en-US"/>
          </a:p>
        </c:txPr>
        <c:crossAx val="2140495176"/>
        <c:crosses val="autoZero"/>
        <c:auto val="1"/>
        <c:lblAlgn val="ctr"/>
        <c:lblOffset val="100"/>
        <c:noMultiLvlLbl val="0"/>
      </c:catAx>
      <c:valAx>
        <c:axId val="2140495176"/>
        <c:scaling>
          <c:orientation val="minMax"/>
          <c:max val="0.7"/>
          <c:min val="0"/>
        </c:scaling>
        <c:delete val="0"/>
        <c:axPos val="l"/>
        <c:majorGridlines>
          <c:spPr>
            <a:ln w="12700">
              <a:solidFill>
                <a:srgbClr val="DDDDDD"/>
              </a:solidFill>
            </a:ln>
          </c:spPr>
        </c:majorGridlines>
        <c:numFmt formatCode="General" sourceLinked="1"/>
        <c:majorTickMark val="out"/>
        <c:minorTickMark val="none"/>
        <c:tickLblPos val="nextTo"/>
        <c:txPr>
          <a:bodyPr/>
          <a:lstStyle/>
          <a:p>
            <a:pPr>
              <a:defRPr sz="2400">
                <a:solidFill>
                  <a:srgbClr val="1A1A1A"/>
                </a:solidFill>
                <a:latin typeface="Times New Roman"/>
              </a:defRPr>
            </a:pPr>
            <a:endParaRPr lang="en-US"/>
          </a:p>
        </c:txPr>
        <c:crossAx val="2118791784"/>
        <c:crosses val="autoZero"/>
        <c:crossBetween val="between"/>
      </c:valAx>
    </c:plotArea>
    <c:legend>
      <c:legendPos val="b"/>
      <c:overlay val="0"/>
      <c:txPr>
        <a:bodyPr/>
        <a:lstStyle/>
        <a:p>
          <a:pPr>
            <a:defRPr sz="2400">
              <a:solidFill>
                <a:srgbClr val="1A1A1A"/>
              </a:solidFill>
              <a:latin typeface="Times New Roman"/>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58575" y="692700"/>
            <a:ext cx="4633600" cy="3463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95000" y="4387125"/>
            <a:ext cx="5560050" cy="41562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95000" y="4387125"/>
            <a:ext cx="5560050" cy="41562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66813"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4" name="Google Shape;14;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26" name="Google Shape;26;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39" name="Google Shape;39;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1" name="Google Shape;41;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40"/>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57" name="Google Shape;57;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20"/>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58" name="Google Shape;58;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8659477" y="4739647"/>
            <a:ext cx="22219920" cy="23393400"/>
          </a:xfrm>
          <a:prstGeom prst="rect">
            <a:avLst/>
          </a:prstGeom>
          <a:noFill/>
          <a:ln>
            <a:noFill/>
          </a:ln>
        </p:spPr>
      </p:sp>
      <p:sp>
        <p:nvSpPr>
          <p:cNvPr id="64" name="Google Shape;64;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20"/>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5" name="Google Shape;65;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40"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chart" Target="../charts/chart2.xml"/><Relationship Id="rId5" Type="http://schemas.openxmlformats.org/officeDocument/2006/relationships/image" Target="../media/image3.png"/><Relationship Id="rId10" Type="http://schemas.openxmlformats.org/officeDocument/2006/relationships/chart" Target="../charts/chart1.xml"/><Relationship Id="rId4" Type="http://schemas.openxmlformats.org/officeDocument/2006/relationships/image" Target="../media/image2.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30586680"/>
            <a:ext cx="43891200" cy="2331720"/>
          </a:xfrm>
          <a:prstGeom prst="rect">
            <a:avLst/>
          </a:prstGeom>
          <a:solidFill>
            <a:srgbClr val="9C23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5" name="Google Shape;85;p1" descr="A picture containing text, transport, wheel&#10;&#10;Description automatically generated"/>
          <p:cNvPicPr preferRelativeResize="0"/>
          <p:nvPr/>
        </p:nvPicPr>
        <p:blipFill rotWithShape="1">
          <a:blip r:embed="rId3">
            <a:alphaModFix/>
          </a:blip>
          <a:srcRect/>
          <a:stretch/>
        </p:blipFill>
        <p:spPr>
          <a:xfrm>
            <a:off x="752948" y="308491"/>
            <a:ext cx="4268445" cy="4290754"/>
          </a:xfrm>
          <a:prstGeom prst="rect">
            <a:avLst/>
          </a:prstGeom>
          <a:noFill/>
          <a:ln>
            <a:noFill/>
          </a:ln>
        </p:spPr>
      </p:pic>
      <p:pic>
        <p:nvPicPr>
          <p:cNvPr id="86" name="Google Shape;86;p1" descr="Image result for All logo university of alabama computer science"/>
          <p:cNvPicPr preferRelativeResize="0"/>
          <p:nvPr/>
        </p:nvPicPr>
        <p:blipFill rotWithShape="1">
          <a:blip r:embed="rId4">
            <a:alphaModFix/>
          </a:blip>
          <a:srcRect/>
          <a:stretch/>
        </p:blipFill>
        <p:spPr>
          <a:xfrm>
            <a:off x="3683466" y="30876643"/>
            <a:ext cx="6405361" cy="1741919"/>
          </a:xfrm>
          <a:prstGeom prst="rect">
            <a:avLst/>
          </a:prstGeom>
          <a:noFill/>
          <a:ln>
            <a:noFill/>
          </a:ln>
        </p:spPr>
      </p:pic>
      <p:pic>
        <p:nvPicPr>
          <p:cNvPr id="87" name="Google Shape;87;p1"/>
          <p:cNvPicPr preferRelativeResize="0"/>
          <p:nvPr/>
        </p:nvPicPr>
        <p:blipFill rotWithShape="1">
          <a:blip r:embed="rId5">
            <a:alphaModFix/>
          </a:blip>
          <a:srcRect/>
          <a:stretch/>
        </p:blipFill>
        <p:spPr>
          <a:xfrm>
            <a:off x="13132213" y="30844104"/>
            <a:ext cx="11612793" cy="1741919"/>
          </a:xfrm>
          <a:prstGeom prst="rect">
            <a:avLst/>
          </a:prstGeom>
          <a:noFill/>
          <a:ln>
            <a:noFill/>
          </a:ln>
        </p:spPr>
      </p:pic>
      <p:pic>
        <p:nvPicPr>
          <p:cNvPr id="88" name="Google Shape;88;p1" descr="Resources – Brand Guidelines | The University of Alabama"/>
          <p:cNvPicPr preferRelativeResize="0"/>
          <p:nvPr/>
        </p:nvPicPr>
        <p:blipFill rotWithShape="1">
          <a:blip r:embed="rId6">
            <a:alphaModFix/>
          </a:blip>
          <a:srcRect/>
          <a:stretch/>
        </p:blipFill>
        <p:spPr>
          <a:xfrm>
            <a:off x="34870716" y="1474353"/>
            <a:ext cx="8685977" cy="2331720"/>
          </a:xfrm>
          <a:prstGeom prst="rect">
            <a:avLst/>
          </a:prstGeom>
          <a:noFill/>
          <a:ln>
            <a:noFill/>
          </a:ln>
        </p:spPr>
      </p:pic>
      <p:sp>
        <p:nvSpPr>
          <p:cNvPr id="89" name="Google Shape;89;p1"/>
          <p:cNvSpPr txBox="1"/>
          <p:nvPr/>
        </p:nvSpPr>
        <p:spPr>
          <a:xfrm>
            <a:off x="27302305" y="31444047"/>
            <a:ext cx="16213593"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lt1"/>
                </a:solidFill>
                <a:latin typeface="Calibri"/>
                <a:ea typeface="Calibri"/>
                <a:cs typeface="Calibri"/>
                <a:sym typeface="Calibri"/>
              </a:rPr>
              <a:t>This material is based on a study supported by the National Science Foundation under Grant No. 2244371. Any opinions, findings, and conclusions or recommendations expressed in this material are those of the author(s) and do not necessarily reflect the views of the National Science Foundation, and the U.S. Government assumes no liability for the contents or use thereof.</a:t>
            </a:r>
            <a:endParaRPr sz="2400" dirty="0">
              <a:solidFill>
                <a:schemeClr val="lt1"/>
              </a:solidFill>
              <a:latin typeface="Calibri"/>
              <a:ea typeface="Calibri"/>
              <a:cs typeface="Calibri"/>
              <a:sym typeface="Calibri"/>
            </a:endParaRPr>
          </a:p>
        </p:txBody>
      </p:sp>
      <p:sp>
        <p:nvSpPr>
          <p:cNvPr id="90" name="Google Shape;90;p1"/>
          <p:cNvSpPr txBox="1"/>
          <p:nvPr/>
        </p:nvSpPr>
        <p:spPr>
          <a:xfrm>
            <a:off x="27281907" y="30676199"/>
            <a:ext cx="16254388" cy="718466"/>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4000" b="1">
                <a:solidFill>
                  <a:schemeClr val="lt1"/>
                </a:solidFill>
                <a:latin typeface="Times New Roman"/>
                <a:ea typeface="Times New Roman"/>
                <a:cs typeface="Times New Roman"/>
                <a:sym typeface="Times New Roman"/>
              </a:rPr>
              <a:t>ACKNOWLEDGMENTS</a:t>
            </a:r>
            <a:endParaRPr sz="4000">
              <a:solidFill>
                <a:schemeClr val="lt1"/>
              </a:solidFill>
              <a:latin typeface="Calibri"/>
              <a:ea typeface="Calibri"/>
              <a:cs typeface="Calibri"/>
              <a:sym typeface="Calibri"/>
            </a:endParaRPr>
          </a:p>
        </p:txBody>
      </p:sp>
      <p:sp>
        <p:nvSpPr>
          <p:cNvPr id="91" name="Google Shape;91;p1"/>
          <p:cNvSpPr/>
          <p:nvPr/>
        </p:nvSpPr>
        <p:spPr>
          <a:xfrm>
            <a:off x="5257800" y="365760"/>
            <a:ext cx="29260800" cy="4251960"/>
          </a:xfrm>
          <a:prstGeom prst="rect">
            <a:avLst/>
          </a:prstGeom>
          <a:solidFill>
            <a:srgbClr val="9C2334"/>
          </a:solidFill>
          <a:ln w="9525" cap="flat" cmpd="sng">
            <a:solidFill>
              <a:srgbClr val="9C2334"/>
            </a:solidFill>
            <a:prstDash val="solid"/>
            <a:miter lim="8000"/>
            <a:headEnd type="none" w="sm" len="sm"/>
            <a:tailEnd type="none" w="sm" len="sm"/>
          </a:ln>
        </p:spPr>
        <p:txBody>
          <a:bodyPr spcFirstLastPara="1" wrap="square" lIns="274300" tIns="45700" rIns="274300" bIns="45700" anchor="ctr" anchorCtr="0">
            <a:noAutofit/>
          </a:bodyPr>
          <a:lstStyle/>
          <a:p>
            <a:pPr marL="0" marR="0" lvl="0" indent="0" algn="ctr" rtl="0">
              <a:spcBef>
                <a:spcPts val="0"/>
              </a:spcBef>
              <a:spcAft>
                <a:spcPts val="0"/>
              </a:spcAft>
              <a:buNone/>
            </a:pPr>
            <a:r>
              <a:rPr lang="en-US" sz="5400" b="1" dirty="0">
                <a:solidFill>
                  <a:srgbClr val="FFFFFF"/>
                </a:solidFill>
                <a:latin typeface="Times New Roman"/>
                <a:ea typeface="Times New Roman"/>
                <a:cs typeface="Times New Roman"/>
                <a:sym typeface="Times New Roman"/>
              </a:rPr>
              <a:t>Adversarial Patch Attacks on UAV Vehicle Detection:</a:t>
            </a:r>
            <a:br>
              <a:rPr lang="en-US" sz="5400" b="1" dirty="0">
                <a:solidFill>
                  <a:srgbClr val="FFFFFF"/>
                </a:solidFill>
                <a:latin typeface="Times New Roman"/>
                <a:ea typeface="Times New Roman"/>
                <a:cs typeface="Times New Roman"/>
                <a:sym typeface="Times New Roman"/>
              </a:rPr>
            </a:br>
            <a:r>
              <a:rPr lang="en-US" sz="5400" b="1" dirty="0">
                <a:solidFill>
                  <a:srgbClr val="FFFFFF"/>
                </a:solidFill>
                <a:latin typeface="Times New Roman"/>
                <a:ea typeface="Times New Roman"/>
                <a:cs typeface="Times New Roman"/>
                <a:sym typeface="Times New Roman"/>
              </a:rPr>
              <a:t>Targeted Misclassification vs. Concealment on YOLO v11-L</a:t>
            </a:r>
            <a:endParaRPr dirty="0"/>
          </a:p>
          <a:p>
            <a:pPr marL="0" marR="0" lvl="0" indent="0" algn="ctr" rtl="0">
              <a:spcBef>
                <a:spcPts val="800"/>
              </a:spcBef>
              <a:spcAft>
                <a:spcPts val="0"/>
              </a:spcAft>
              <a:buNone/>
            </a:pPr>
            <a:r>
              <a:rPr lang="en-US" sz="3600" dirty="0">
                <a:solidFill>
                  <a:srgbClr val="FFFFFF"/>
                </a:solidFill>
                <a:latin typeface="Times New Roman"/>
                <a:ea typeface="Times New Roman"/>
                <a:cs typeface="Times New Roman"/>
                <a:sym typeface="Times New Roman"/>
              </a:rPr>
              <a:t>Aarav Pulsani</a:t>
            </a:r>
            <a:endParaRPr sz="3600" dirty="0"/>
          </a:p>
          <a:p>
            <a:pPr marL="0" marR="0" lvl="0" indent="0" algn="ctr" rtl="0">
              <a:spcBef>
                <a:spcPts val="200"/>
              </a:spcBef>
              <a:spcAft>
                <a:spcPts val="0"/>
              </a:spcAft>
              <a:buNone/>
            </a:pPr>
            <a:r>
              <a:rPr lang="en-US" sz="3600" dirty="0">
                <a:solidFill>
                  <a:srgbClr val="FFFFFF"/>
                </a:solidFill>
                <a:latin typeface="Times New Roman"/>
                <a:ea typeface="Times New Roman"/>
                <a:cs typeface="Times New Roman"/>
                <a:sym typeface="Times New Roman"/>
              </a:rPr>
              <a:t>Mentors: Dr. Alsharif, Muhammad Jahanzeb Khan</a:t>
            </a:r>
            <a:endParaRPr sz="3600" dirty="0"/>
          </a:p>
        </p:txBody>
      </p:sp>
      <p:sp>
        <p:nvSpPr>
          <p:cNvPr id="92" name="Google Shape;92;p1"/>
          <p:cNvSpPr/>
          <p:nvPr/>
        </p:nvSpPr>
        <p:spPr>
          <a:xfrm>
            <a:off x="411480" y="5074920"/>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Introduction</a:t>
            </a:r>
            <a:endParaRPr sz="4500" dirty="0"/>
          </a:p>
        </p:txBody>
      </p:sp>
      <p:sp>
        <p:nvSpPr>
          <p:cNvPr id="93" name="Google Shape;93;p1"/>
          <p:cNvSpPr/>
          <p:nvPr/>
        </p:nvSpPr>
        <p:spPr>
          <a:xfrm>
            <a:off x="411480" y="5916168"/>
            <a:ext cx="13990320" cy="10058400"/>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1"/>
          <p:cNvSpPr txBox="1"/>
          <p:nvPr/>
        </p:nvSpPr>
        <p:spPr>
          <a:xfrm>
            <a:off x="576072" y="6025896"/>
            <a:ext cx="13661136" cy="9210214"/>
          </a:xfrm>
          <a:prstGeom prst="rect">
            <a:avLst/>
          </a:prstGeom>
          <a:noFill/>
          <a:ln>
            <a:noFill/>
          </a:ln>
        </p:spPr>
        <p:txBody>
          <a:bodyPr spcFirstLastPara="1" wrap="square" lIns="0" tIns="0" rIns="0" bIns="0" anchor="t" anchorCtr="0">
            <a:spAutoFit/>
          </a:bodyPr>
          <a:lstStyle/>
          <a:p>
            <a:pPr marL="571500" marR="0" lvl="0" indent="-571500" algn="l" rtl="0">
              <a:spcBef>
                <a:spcPts val="0"/>
              </a:spcBef>
              <a:spcAft>
                <a:spcPts val="0"/>
              </a:spcAft>
              <a:buClr>
                <a:srgbClr val="1A1A1A"/>
              </a:buClr>
              <a:buSzPct val="100000"/>
              <a:buFont typeface="Wingdings" panose="05000000000000000000" pitchFamily="2" charset="2"/>
              <a:buChar char="§"/>
            </a:pPr>
            <a:r>
              <a:rPr lang="en-US" sz="3600" b="0" i="0" dirty="0">
                <a:solidFill>
                  <a:srgbClr val="1A1A1A"/>
                </a:solidFill>
                <a:latin typeface="Times New Roman"/>
                <a:ea typeface="Times New Roman"/>
                <a:cs typeface="Times New Roman"/>
                <a:sym typeface="Times New Roman"/>
              </a:rPr>
              <a:t>Drone-borne object detectors are increasingly deployed for traffic monitoring, infrastructure inspection, and surveillance, where their outputs are frequently acted upon without human review.</a:t>
            </a:r>
            <a:endParaRPr sz="3600" dirty="0"/>
          </a:p>
          <a:p>
            <a:pPr marL="571500" marR="0" lvl="0" indent="-571500" algn="l" rtl="0">
              <a:spcBef>
                <a:spcPts val="900"/>
              </a:spcBef>
              <a:spcAft>
                <a:spcPts val="0"/>
              </a:spcAft>
              <a:buClr>
                <a:srgbClr val="1A1A1A"/>
              </a:buClr>
              <a:buSzPct val="100000"/>
              <a:buFont typeface="Wingdings" panose="05000000000000000000" pitchFamily="2" charset="2"/>
              <a:buChar char="§"/>
            </a:pPr>
            <a:r>
              <a:rPr lang="en-US" sz="3600" b="0" i="0" dirty="0">
                <a:solidFill>
                  <a:srgbClr val="1A1A1A"/>
                </a:solidFill>
                <a:latin typeface="Times New Roman"/>
                <a:ea typeface="Times New Roman"/>
                <a:cs typeface="Times New Roman"/>
                <a:sym typeface="Times New Roman"/>
              </a:rPr>
              <a:t>An adversarial patch is a printed, physically realizable perturbation. Unlike pixel-wise noise, it persists through printing, illumination change, and camera capture, and therefore constitutes a physical rather than a purely digital threat.</a:t>
            </a:r>
            <a:endParaRPr sz="3600" dirty="0"/>
          </a:p>
          <a:p>
            <a:pPr marL="571500" marR="0" lvl="0" indent="-571500" algn="l" rtl="0">
              <a:spcBef>
                <a:spcPts val="900"/>
              </a:spcBef>
              <a:spcAft>
                <a:spcPts val="0"/>
              </a:spcAft>
              <a:buClr>
                <a:srgbClr val="1A1A1A"/>
              </a:buClr>
              <a:buSzPct val="100000"/>
              <a:buFont typeface="Wingdings" panose="05000000000000000000" pitchFamily="2" charset="2"/>
              <a:buChar char="§"/>
            </a:pPr>
            <a:r>
              <a:rPr lang="en-US" sz="3600" b="0" i="0" dirty="0">
                <a:solidFill>
                  <a:srgbClr val="1A1A1A"/>
                </a:solidFill>
                <a:latin typeface="Times New Roman"/>
                <a:ea typeface="Times New Roman"/>
                <a:cs typeface="Times New Roman"/>
                <a:sym typeface="Times New Roman"/>
              </a:rPr>
              <a:t>Prior work (Pathak et al., IROS 2024) evaluates concealment, in which a vehicle is suppressed from detection. Targeted misclassification</a:t>
            </a:r>
            <a:r>
              <a:rPr lang="en-US" sz="3600" dirty="0">
                <a:solidFill>
                  <a:srgbClr val="1A1A1A"/>
                </a:solidFill>
                <a:latin typeface="Times New Roman"/>
                <a:ea typeface="Times New Roman"/>
                <a:cs typeface="Times New Roman"/>
                <a:sym typeface="Times New Roman"/>
              </a:rPr>
              <a:t>, </a:t>
            </a:r>
            <a:r>
              <a:rPr lang="en-US" sz="3600" b="0" i="0" dirty="0">
                <a:solidFill>
                  <a:srgbClr val="1A1A1A"/>
                </a:solidFill>
                <a:latin typeface="Times New Roman"/>
                <a:ea typeface="Times New Roman"/>
                <a:cs typeface="Times New Roman"/>
                <a:sym typeface="Times New Roman"/>
              </a:rPr>
              <a:t>inducing a confident but incorrect class assignment</a:t>
            </a:r>
            <a:r>
              <a:rPr lang="en-US" sz="3600" dirty="0">
                <a:solidFill>
                  <a:srgbClr val="1A1A1A"/>
                </a:solidFill>
                <a:latin typeface="Times New Roman"/>
                <a:ea typeface="Times New Roman"/>
                <a:cs typeface="Times New Roman"/>
                <a:sym typeface="Times New Roman"/>
              </a:rPr>
              <a:t>,</a:t>
            </a:r>
            <a:r>
              <a:rPr lang="en-US" sz="3600" b="0" i="0" dirty="0">
                <a:solidFill>
                  <a:srgbClr val="1A1A1A"/>
                </a:solidFill>
                <a:latin typeface="Times New Roman"/>
                <a:ea typeface="Times New Roman"/>
                <a:cs typeface="Times New Roman"/>
                <a:sym typeface="Times New Roman"/>
              </a:rPr>
              <a:t> remains comparatively unexamined despite posing a greater operational risk: an erroneous detection is acted upon, whereas an absent one is more readily noticed.</a:t>
            </a:r>
            <a:endParaRPr sz="3600" dirty="0"/>
          </a:p>
          <a:p>
            <a:pPr marL="571500" marR="0" lvl="0" indent="-571500" algn="l" rtl="0">
              <a:spcBef>
                <a:spcPts val="900"/>
              </a:spcBef>
              <a:spcAft>
                <a:spcPts val="0"/>
              </a:spcAft>
              <a:buClr>
                <a:srgbClr val="1A1A1A"/>
              </a:buClr>
              <a:buSzPct val="100000"/>
              <a:buFont typeface="Wingdings" panose="05000000000000000000" pitchFamily="2" charset="2"/>
              <a:buChar char="§"/>
            </a:pPr>
            <a:r>
              <a:rPr lang="en-US" sz="3600" b="0" i="0" dirty="0">
                <a:solidFill>
                  <a:srgbClr val="1A1A1A"/>
                </a:solidFill>
                <a:latin typeface="Times New Roman"/>
                <a:ea typeface="Times New Roman"/>
                <a:cs typeface="Times New Roman"/>
                <a:sym typeface="Times New Roman"/>
              </a:rPr>
              <a:t>This work evaluates both objectives under a common model, dataset, and evaluation harness, permitting the disparity between them to be measured directly rather than inferred across publications.</a:t>
            </a:r>
            <a:endParaRPr sz="3600" dirty="0"/>
          </a:p>
        </p:txBody>
      </p:sp>
      <p:sp>
        <p:nvSpPr>
          <p:cNvPr id="95" name="Google Shape;95;p1"/>
          <p:cNvSpPr/>
          <p:nvPr/>
        </p:nvSpPr>
        <p:spPr>
          <a:xfrm>
            <a:off x="411480" y="16203167"/>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a:solidFill>
                  <a:srgbClr val="FFFFFF"/>
                </a:solidFill>
                <a:latin typeface="Times New Roman"/>
                <a:ea typeface="Times New Roman"/>
                <a:cs typeface="Times New Roman"/>
                <a:sym typeface="Times New Roman"/>
              </a:rPr>
              <a:t>Objective</a:t>
            </a:r>
            <a:endParaRPr sz="4500"/>
          </a:p>
        </p:txBody>
      </p:sp>
      <p:sp>
        <p:nvSpPr>
          <p:cNvPr id="96" name="Google Shape;96;p1"/>
          <p:cNvSpPr/>
          <p:nvPr/>
        </p:nvSpPr>
        <p:spPr>
          <a:xfrm>
            <a:off x="411480" y="17044416"/>
            <a:ext cx="13990320" cy="3108960"/>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1"/>
          <p:cNvSpPr txBox="1"/>
          <p:nvPr/>
        </p:nvSpPr>
        <p:spPr>
          <a:xfrm>
            <a:off x="685800" y="17181576"/>
            <a:ext cx="13441680" cy="2834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a:solidFill>
                  <a:srgbClr val="1A1A1A"/>
                </a:solidFill>
                <a:latin typeface="Times New Roman"/>
                <a:ea typeface="Times New Roman"/>
                <a:cs typeface="Times New Roman"/>
                <a:sym typeface="Times New Roman"/>
              </a:rPr>
              <a:t>To quantify the extent to which a physically plausible adversarial patch can induce a state-of-the-art UAV detector to reassign a car to the van class, and to characterize the cost of that objective relative to the comparatively tractable task of suppressing the detection entirely.</a:t>
            </a:r>
            <a:endParaRPr/>
          </a:p>
        </p:txBody>
      </p:sp>
      <p:sp>
        <p:nvSpPr>
          <p:cNvPr id="98" name="Google Shape;98;p1"/>
          <p:cNvSpPr/>
          <p:nvPr/>
        </p:nvSpPr>
        <p:spPr>
          <a:xfrm>
            <a:off x="411480" y="20381976"/>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Threat Model</a:t>
            </a:r>
            <a:endParaRPr sz="4500" dirty="0"/>
          </a:p>
        </p:txBody>
      </p:sp>
      <p:sp>
        <p:nvSpPr>
          <p:cNvPr id="99" name="Google Shape;99;p1"/>
          <p:cNvSpPr/>
          <p:nvPr/>
        </p:nvSpPr>
        <p:spPr>
          <a:xfrm>
            <a:off x="411480" y="21246083"/>
            <a:ext cx="13990320" cy="9180576"/>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1"/>
          <p:cNvSpPr txBox="1"/>
          <p:nvPr/>
        </p:nvSpPr>
        <p:spPr>
          <a:xfrm>
            <a:off x="490888" y="29580839"/>
            <a:ext cx="13910912"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1" dirty="0">
                <a:solidFill>
                  <a:srgbClr val="444444"/>
                </a:solidFill>
                <a:latin typeface="Times New Roman"/>
                <a:ea typeface="Times New Roman"/>
                <a:cs typeface="Times New Roman"/>
                <a:sym typeface="Times New Roman"/>
              </a:rPr>
              <a:t>Fig. 1. An optimized patch is applied to the vehicle surface; the UAV camera acquires the scene and the </a:t>
            </a:r>
            <a:r>
              <a:rPr lang="en-US" sz="1800" i="1" dirty="0">
                <a:solidFill>
                  <a:srgbClr val="444444"/>
                </a:solidFill>
                <a:latin typeface="Times New Roman"/>
                <a:ea typeface="Times New Roman"/>
                <a:cs typeface="Times New Roman"/>
                <a:sym typeface="Times New Roman"/>
              </a:rPr>
              <a:t>object</a:t>
            </a:r>
            <a:r>
              <a:rPr lang="en-US" sz="1800" b="0" i="1" dirty="0">
                <a:solidFill>
                  <a:srgbClr val="444444"/>
                </a:solidFill>
                <a:latin typeface="Times New Roman"/>
                <a:ea typeface="Times New Roman"/>
                <a:cs typeface="Times New Roman"/>
                <a:sym typeface="Times New Roman"/>
              </a:rPr>
              <a:t> detector processes the resulting frame. In the white-box setting the loss is backpropagated through the detector to the patch pixels, leaving model weights unmodified. The detector then emits either an incorrect class (targeted) or no detection (concealment).</a:t>
            </a:r>
            <a:endParaRPr dirty="0"/>
          </a:p>
        </p:txBody>
      </p:sp>
      <p:sp>
        <p:nvSpPr>
          <p:cNvPr id="104" name="Google Shape;104;p1"/>
          <p:cNvSpPr/>
          <p:nvPr/>
        </p:nvSpPr>
        <p:spPr>
          <a:xfrm>
            <a:off x="14950440" y="5074920"/>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Experiment</a:t>
            </a:r>
            <a:endParaRPr sz="4500" dirty="0"/>
          </a:p>
        </p:txBody>
      </p:sp>
      <p:sp>
        <p:nvSpPr>
          <p:cNvPr id="105" name="Google Shape;105;p1"/>
          <p:cNvSpPr/>
          <p:nvPr/>
        </p:nvSpPr>
        <p:spPr>
          <a:xfrm>
            <a:off x="14950440" y="5916168"/>
            <a:ext cx="13990320" cy="11430000"/>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1"/>
          <p:cNvSpPr/>
          <p:nvPr/>
        </p:nvSpPr>
        <p:spPr>
          <a:xfrm>
            <a:off x="14950440" y="18416016"/>
            <a:ext cx="13990320" cy="11987784"/>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1"/>
          <p:cNvSpPr/>
          <p:nvPr/>
        </p:nvSpPr>
        <p:spPr>
          <a:xfrm>
            <a:off x="29489400" y="5074920"/>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Results</a:t>
            </a:r>
            <a:endParaRPr sz="4500" dirty="0"/>
          </a:p>
        </p:txBody>
      </p:sp>
      <p:sp>
        <p:nvSpPr>
          <p:cNvPr id="109" name="Google Shape;109;p1"/>
          <p:cNvSpPr/>
          <p:nvPr/>
        </p:nvSpPr>
        <p:spPr>
          <a:xfrm>
            <a:off x="29489400" y="5916168"/>
            <a:ext cx="13990320" cy="15673982"/>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113" name="Google Shape;113;p1"/>
          <p:cNvSpPr/>
          <p:nvPr/>
        </p:nvSpPr>
        <p:spPr>
          <a:xfrm>
            <a:off x="29489400" y="21818750"/>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Conclusions &amp; Future Work</a:t>
            </a:r>
            <a:endParaRPr sz="4500" dirty="0"/>
          </a:p>
        </p:txBody>
      </p:sp>
      <p:sp>
        <p:nvSpPr>
          <p:cNvPr id="114" name="Google Shape;114;p1"/>
          <p:cNvSpPr/>
          <p:nvPr/>
        </p:nvSpPr>
        <p:spPr>
          <a:xfrm>
            <a:off x="29489400" y="22659998"/>
            <a:ext cx="13990320" cy="7743801"/>
          </a:xfrm>
          <a:prstGeom prst="rect">
            <a:avLst/>
          </a:prstGeom>
          <a:solidFill>
            <a:srgbClr val="FCFCFA"/>
          </a:solidFill>
          <a:ln w="19050" cap="flat" cmpd="sng">
            <a:solidFill>
              <a:srgbClr val="9C233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1"/>
          <p:cNvSpPr txBox="1"/>
          <p:nvPr/>
        </p:nvSpPr>
        <p:spPr>
          <a:xfrm>
            <a:off x="29717999" y="22749517"/>
            <a:ext cx="13533120" cy="7755969"/>
          </a:xfrm>
          <a:prstGeom prst="rect">
            <a:avLst/>
          </a:prstGeom>
          <a:noFill/>
          <a:ln>
            <a:noFill/>
          </a:ln>
        </p:spPr>
        <p:txBody>
          <a:bodyPr spcFirstLastPara="1" wrap="square" lIns="0" tIns="0" rIns="0" bIns="0" anchor="t" anchorCtr="0">
            <a:spAutoFit/>
          </a:bodyPr>
          <a:lstStyle/>
          <a:p>
            <a:pPr marL="571500" lvl="0" indent="-571500">
              <a:buClr>
                <a:srgbClr val="1A1A1A"/>
              </a:buClr>
              <a:buSzPct val="1000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A physically plausible patch reassigns approximately one in three cars to the van class on a strong, contemporary detector, a substantive threat, though well short of the near-total failure induced by concealment. </a:t>
            </a:r>
          </a:p>
          <a:p>
            <a:pPr marL="571500" lvl="0" indent="-571500">
              <a:buClr>
                <a:srgbClr val="1A1A1A"/>
              </a:buClr>
              <a:buSzPct val="1000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Because the patch is confined to the vehicle's flat, off-glass painted surface, its coverage is bounded by that region, which caps the achievable attack strength. </a:t>
            </a:r>
          </a:p>
          <a:p>
            <a:pPr marL="571500" lvl="0" indent="-571500">
              <a:buClr>
                <a:srgbClr val="1A1A1A"/>
              </a:buClr>
              <a:buSzPct val="1000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Attack success remained largely stable across patch rotation and placement, indicating the threat is robust to how the patch is positioned on the vehicle. </a:t>
            </a:r>
          </a:p>
          <a:p>
            <a:pPr marL="571500" lvl="0" indent="-571500">
              <a:buClr>
                <a:srgbClr val="1A1A1A"/>
              </a:buClr>
              <a:buSzPct val="1000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Future work will develop shape-conforming patches that follow the full contour of the car while still avoiding the windshield and other glass, increasing effective coverage while preserving physical realizability.</a:t>
            </a:r>
            <a:endParaRPr sz="3600" dirty="0">
              <a:latin typeface="Times New Roman" panose="02020603050405020304" pitchFamily="18" charset="0"/>
              <a:cs typeface="Times New Roman" panose="02020603050405020304" pitchFamily="18" charset="0"/>
            </a:endParaRPr>
          </a:p>
        </p:txBody>
      </p:sp>
      <p:sp>
        <p:nvSpPr>
          <p:cNvPr id="117" name="Google Shape;117;p1"/>
          <p:cNvSpPr/>
          <p:nvPr/>
        </p:nvSpPr>
        <p:spPr>
          <a:xfrm>
            <a:off x="14950440" y="17574768"/>
            <a:ext cx="13990320" cy="841248"/>
          </a:xfrm>
          <a:prstGeom prst="rect">
            <a:avLst/>
          </a:prstGeom>
          <a:solidFill>
            <a:srgbClr val="9C2334"/>
          </a:solidFill>
          <a:ln w="12700" cap="flat" cmpd="sng">
            <a:solidFill>
              <a:srgbClr val="9C2334"/>
            </a:solidFill>
            <a:prstDash val="solid"/>
            <a:miter lim="8000"/>
            <a:headEnd type="none" w="sm" len="sm"/>
            <a:tailEnd type="none" w="sm" len="sm"/>
          </a:ln>
        </p:spPr>
        <p:txBody>
          <a:bodyPr spcFirstLastPara="1" wrap="square" lIns="91425" tIns="18275" rIns="91425" bIns="18275" anchor="ctr" anchorCtr="0">
            <a:noAutofit/>
          </a:bodyPr>
          <a:lstStyle/>
          <a:p>
            <a:pPr marL="0" marR="0" lvl="0" indent="0" algn="ctr" rtl="0">
              <a:spcBef>
                <a:spcPts val="0"/>
              </a:spcBef>
              <a:spcAft>
                <a:spcPts val="0"/>
              </a:spcAft>
              <a:buNone/>
            </a:pPr>
            <a:r>
              <a:rPr lang="en-US" sz="4500" b="1" dirty="0">
                <a:solidFill>
                  <a:srgbClr val="FFFFFF"/>
                </a:solidFill>
                <a:latin typeface="Times New Roman"/>
                <a:ea typeface="Times New Roman"/>
                <a:cs typeface="Times New Roman"/>
                <a:sym typeface="Times New Roman"/>
              </a:rPr>
              <a:t>Experimental Runs</a:t>
            </a:r>
            <a:endParaRPr sz="4500" dirty="0"/>
          </a:p>
        </p:txBody>
      </p:sp>
      <p:sp>
        <p:nvSpPr>
          <p:cNvPr id="120" name="TextBox 119"/>
          <p:cNvSpPr txBox="1"/>
          <p:nvPr/>
        </p:nvSpPr>
        <p:spPr>
          <a:xfrm>
            <a:off x="14950437" y="29746824"/>
            <a:ext cx="13478256" cy="646331"/>
          </a:xfrm>
          <a:prstGeom prst="rect">
            <a:avLst/>
          </a:prstGeom>
          <a:noFill/>
        </p:spPr>
        <p:txBody>
          <a:bodyPr wrap="square">
            <a:spAutoFit/>
          </a:bodyPr>
          <a:lstStyle/>
          <a:p>
            <a:r>
              <a:rPr sz="1800" i="1" dirty="0">
                <a:solidFill>
                  <a:srgbClr val="444444"/>
                </a:solidFill>
                <a:latin typeface="Times New Roman"/>
              </a:rPr>
              <a:t>Fig. 2. The same aerial frame under each patch condition. Box color marks the per-car outcome (see key): green = still a car, blue = flipped to van, red = vanished. Frames were selected for a high flip count, so each is more favorable than its run-average ASR.</a:t>
            </a:r>
          </a:p>
        </p:txBody>
      </p:sp>
      <p:pic>
        <p:nvPicPr>
          <p:cNvPr id="14" name="Picture 13">
            <a:extLst>
              <a:ext uri="{FF2B5EF4-FFF2-40B4-BE49-F238E27FC236}">
                <a16:creationId xmlns:a16="http://schemas.microsoft.com/office/drawing/2014/main" id="{A5E30D6D-E0B8-08C3-67FF-3B5D9D8F928D}"/>
              </a:ext>
            </a:extLst>
          </p:cNvPr>
          <p:cNvPicPr>
            <a:picLocks noChangeAspect="1"/>
          </p:cNvPicPr>
          <p:nvPr/>
        </p:nvPicPr>
        <p:blipFill>
          <a:blip r:embed="rId7"/>
          <a:stretch>
            <a:fillRect/>
          </a:stretch>
        </p:blipFill>
        <p:spPr>
          <a:xfrm>
            <a:off x="459189" y="21246083"/>
            <a:ext cx="13841011" cy="8272111"/>
          </a:xfrm>
          <a:prstGeom prst="rect">
            <a:avLst/>
          </a:prstGeom>
        </p:spPr>
      </p:pic>
      <mc:AlternateContent xmlns:mc="http://schemas.openxmlformats.org/markup-compatibility/2006">
        <mc:Choice xmlns:a14="http://schemas.microsoft.com/office/drawing/2010/main" Requires="a14">
          <p:sp>
            <p:nvSpPr>
              <p:cNvPr id="121" name="TextBox 120"/>
              <p:cNvSpPr txBox="1"/>
              <p:nvPr/>
            </p:nvSpPr>
            <p:spPr>
              <a:xfrm>
                <a:off x="15224759" y="6035040"/>
                <a:ext cx="13441680" cy="10411055"/>
              </a:xfrm>
              <a:prstGeom prst="rect">
                <a:avLst/>
              </a:prstGeom>
              <a:noFill/>
            </p:spPr>
            <p:txBody>
              <a:bodyPr wrap="square" lIns="45720" rIns="45720">
                <a:spAutoFit/>
              </a:bodyPr>
              <a:lstStyle/>
              <a:p>
                <a:pPr>
                  <a:spcBef>
                    <a:spcPts val="0"/>
                  </a:spcBef>
                  <a:spcAft>
                    <a:spcPts val="400"/>
                  </a:spcAft>
                  <a:buNone/>
                </a:pPr>
                <a:r>
                  <a:rPr lang="en-US" sz="4000" b="1" dirty="0">
                    <a:solidFill>
                      <a:srgbClr val="9C2334"/>
                    </a:solidFill>
                    <a:latin typeface="Times New Roman"/>
                  </a:rPr>
                  <a:t>Dataset Preparation</a:t>
                </a:r>
              </a:p>
              <a:p>
                <a:pPr marL="571500" indent="-5715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VisDrone2019-DET aerial imagery, 5 vehicle classes (car, van, truck, bus, motor).</a:t>
                </a:r>
              </a:p>
              <a:p>
                <a:pPr marL="571500" indent="-5715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Detector: YOLO11-L pretrained on COCO-2017 fine-tuned at 1280px using VisDrone2019. Clean baseline 0.639 car AP@0.5.</a:t>
                </a:r>
                <a:endParaRPr lang="en-US" sz="4000" b="1" dirty="0">
                  <a:solidFill>
                    <a:srgbClr val="9C2334"/>
                  </a:solidFill>
                  <a:latin typeface="Times New Roman"/>
                </a:endParaRPr>
              </a:p>
              <a:p>
                <a:pPr>
                  <a:spcBef>
                    <a:spcPts val="0"/>
                  </a:spcBef>
                  <a:spcAft>
                    <a:spcPts val="400"/>
                  </a:spcAft>
                  <a:buNone/>
                </a:pPr>
                <a:r>
                  <a:rPr lang="en-US" sz="4000" b="1" dirty="0">
                    <a:solidFill>
                      <a:srgbClr val="9C2334"/>
                    </a:solidFill>
                    <a:latin typeface="Times New Roman"/>
                  </a:rPr>
                  <a:t>Generation of Results</a:t>
                </a:r>
              </a:p>
              <a:p>
                <a:pPr marL="571500" indent="-5715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One universal digital targeted adversarial patch optimized to flip car to van.</a:t>
                </a:r>
              </a:p>
              <a:p>
                <a:pPr marL="571500" indent="-5715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Patch projected onto each car's painted, off-glass surface (physically realizable).</a:t>
                </a:r>
              </a:p>
              <a:p>
                <a:pPr marL="571500" indent="-5715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One factor varied per run: size (10/20%), rotation (0/20/45°), placement (center/offset).</a:t>
                </a:r>
                <a:endParaRPr lang="en-US" sz="4000" b="1" dirty="0">
                  <a:solidFill>
                    <a:srgbClr val="9C2334"/>
                  </a:solidFill>
                  <a:latin typeface="Times New Roman"/>
                </a:endParaRPr>
              </a:p>
              <a:p>
                <a:pPr>
                  <a:spcBef>
                    <a:spcPts val="0"/>
                  </a:spcBef>
                  <a:spcAft>
                    <a:spcPts val="400"/>
                  </a:spcAft>
                  <a:buNone/>
                </a:pPr>
                <a:r>
                  <a:rPr lang="en-US" sz="4000" b="1" dirty="0">
                    <a:solidFill>
                      <a:srgbClr val="9C2334"/>
                    </a:solidFill>
                    <a:latin typeface="Times New Roman"/>
                  </a:rPr>
                  <a:t>Performance Metrics</a:t>
                </a:r>
              </a:p>
              <a:p>
                <a:pPr marL="571500" indent="-571500">
                  <a:spcAft>
                    <a:spcPts val="400"/>
                  </a:spcAft>
                  <a:buFont typeface="Wingdings" panose="05000000000000000000" pitchFamily="2" charset="2"/>
                  <a:buChar char="§"/>
                </a:pPr>
                <a14:m>
                  <m:oMath xmlns:m="http://schemas.openxmlformats.org/officeDocument/2006/math">
                    <m:r>
                      <a:rPr lang="en-US" sz="3600" b="0" i="1" smtClean="0">
                        <a:latin typeface="Cambria Math" panose="02040503050406030204" pitchFamily="18" charset="0"/>
                        <a:cs typeface="Times New Roman" panose="02020603050405020304" pitchFamily="18" charset="0"/>
                      </a:rPr>
                      <m:t>𝐴𝑆𝑅</m:t>
                    </m:r>
                    <m:r>
                      <a:rPr lang="en-US" sz="3600" b="0" i="1" smtClean="0">
                        <a:latin typeface="Cambria Math" panose="02040503050406030204" pitchFamily="18" charset="0"/>
                        <a:cs typeface="Times New Roman" panose="02020603050405020304" pitchFamily="18" charset="0"/>
                      </a:rPr>
                      <m:t>=</m:t>
                    </m:r>
                    <m:f>
                      <m:fPr>
                        <m:ctrlPr>
                          <a:rPr lang="en-US" sz="3600" b="0" i="1" smtClean="0">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𝑁</m:t>
                            </m:r>
                          </m:e>
                          <m:sub>
                            <m:r>
                              <a:rPr lang="en-US" sz="3600" i="1">
                                <a:latin typeface="Cambria Math" panose="02040503050406030204" pitchFamily="18" charset="0"/>
                                <a:cs typeface="Times New Roman" panose="02020603050405020304" pitchFamily="18" charset="0"/>
                              </a:rPr>
                              <m:t>𝑐𝑎𝑟</m:t>
                            </m:r>
                            <m:r>
                              <a:rPr lang="en-US" sz="3600" i="1">
                                <a:latin typeface="Cambria Math" panose="02040503050406030204" pitchFamily="18" charset="0"/>
                                <a:ea typeface="Cambria Math" panose="02040503050406030204" pitchFamily="18" charset="0"/>
                                <a:cs typeface="Times New Roman" panose="02020603050405020304" pitchFamily="18" charset="0"/>
                              </a:rPr>
                              <m:t>→</m:t>
                            </m:r>
                            <m:r>
                              <a:rPr lang="en-US" sz="3600" i="1">
                                <a:latin typeface="Cambria Math" panose="02040503050406030204" pitchFamily="18" charset="0"/>
                                <a:ea typeface="Cambria Math" panose="02040503050406030204" pitchFamily="18" charset="0"/>
                                <a:cs typeface="Times New Roman" panose="02020603050405020304" pitchFamily="18" charset="0"/>
                              </a:rPr>
                              <m:t>𝑣𝑎𝑛</m:t>
                            </m:r>
                          </m:sub>
                        </m:sSub>
                      </m:num>
                      <m:den>
                        <m:r>
                          <a:rPr lang="en-US" sz="3600" b="0" i="1" smtClean="0">
                            <a:latin typeface="Cambria Math" panose="02040503050406030204" pitchFamily="18" charset="0"/>
                            <a:cs typeface="Times New Roman" panose="02020603050405020304" pitchFamily="18" charset="0"/>
                          </a:rPr>
                          <m:t>𝑁</m:t>
                        </m:r>
                      </m:den>
                    </m:f>
                  </m:oMath>
                </a14:m>
                <a:endParaRPr lang="en-US" sz="3600" dirty="0">
                  <a:latin typeface="Times New Roman" panose="02020603050405020304" pitchFamily="18" charset="0"/>
                  <a:cs typeface="Times New Roman" panose="02020603050405020304" pitchFamily="18" charset="0"/>
                </a:endParaRPr>
              </a:p>
              <a:p>
                <a:pPr marL="571500" indent="-571500">
                  <a:spcAft>
                    <a:spcPts val="400"/>
                  </a:spcAft>
                  <a:buFont typeface="Wingdings" panose="05000000000000000000" pitchFamily="2" charset="2"/>
                  <a:buChar char="§"/>
                </a:pPr>
                <a14:m>
                  <m:oMath xmlns:m="http://schemas.openxmlformats.org/officeDocument/2006/math">
                    <m:r>
                      <a:rPr lang="en-US" sz="3600" b="0" i="1" smtClean="0">
                        <a:latin typeface="Cambria Math" panose="02040503050406030204" pitchFamily="18" charset="0"/>
                        <a:cs typeface="Times New Roman" panose="02020603050405020304" pitchFamily="18" charset="0"/>
                      </a:rPr>
                      <m:t>𝑉𝑅</m:t>
                    </m:r>
                    <m:r>
                      <a:rPr lang="en-US" sz="3600" b="0" i="1" smtClean="0">
                        <a:latin typeface="Cambria Math" panose="02040503050406030204" pitchFamily="18" charset="0"/>
                        <a:cs typeface="Times New Roman" panose="02020603050405020304" pitchFamily="18" charset="0"/>
                      </a:rPr>
                      <m:t>=</m:t>
                    </m:r>
                    <m:f>
                      <m:fPr>
                        <m:ctrlPr>
                          <a:rPr lang="en-US" sz="3600" b="0" i="1" smtClean="0">
                            <a:latin typeface="Cambria Math" panose="02040503050406030204" pitchFamily="18" charset="0"/>
                            <a:cs typeface="Times New Roman" panose="02020603050405020304" pitchFamily="18" charset="0"/>
                          </a:rPr>
                        </m:ctrlPr>
                      </m:fPr>
                      <m:num>
                        <m:sSub>
                          <m:sSubPr>
                            <m:ctrlPr>
                              <a:rPr lang="en-US" sz="3600" b="0" i="1" smtClean="0">
                                <a:latin typeface="Cambria Math" panose="02040503050406030204" pitchFamily="18" charset="0"/>
                                <a:cs typeface="Times New Roman" panose="02020603050405020304" pitchFamily="18" charset="0"/>
                              </a:rPr>
                            </m:ctrlPr>
                          </m:sSubPr>
                          <m:e>
                            <m:r>
                              <a:rPr lang="en-US" sz="3600" b="0" i="1" smtClean="0">
                                <a:latin typeface="Cambria Math" panose="02040503050406030204" pitchFamily="18" charset="0"/>
                                <a:cs typeface="Times New Roman" panose="02020603050405020304" pitchFamily="18" charset="0"/>
                              </a:rPr>
                              <m:t>𝑁</m:t>
                            </m:r>
                          </m:e>
                          <m:sub>
                            <m:r>
                              <a:rPr lang="en-US" sz="3600" b="0" i="1" smtClean="0">
                                <a:latin typeface="Cambria Math" panose="02040503050406030204" pitchFamily="18" charset="0"/>
                                <a:cs typeface="Times New Roman" panose="02020603050405020304" pitchFamily="18" charset="0"/>
                              </a:rPr>
                              <m:t>𝑢𝑛𝑑𝑒𝑡𝑒𝑐𝑡𝑒𝑑</m:t>
                            </m:r>
                          </m:sub>
                        </m:sSub>
                      </m:num>
                      <m:den>
                        <m:r>
                          <a:rPr lang="en-US" sz="3600" b="0" i="1" smtClean="0">
                            <a:latin typeface="Cambria Math" panose="02040503050406030204" pitchFamily="18" charset="0"/>
                            <a:cs typeface="Times New Roman" panose="02020603050405020304" pitchFamily="18" charset="0"/>
                          </a:rPr>
                          <m:t>𝑁</m:t>
                        </m:r>
                      </m:den>
                    </m:f>
                  </m:oMath>
                </a14:m>
                <a:r>
                  <a:rPr lang="en-US" sz="3600" dirty="0">
                    <a:latin typeface="Times New Roman" panose="02020603050405020304" pitchFamily="18" charset="0"/>
                    <a:cs typeface="Times New Roman" panose="02020603050405020304" pitchFamily="18" charset="0"/>
                  </a:rPr>
                  <a:t> </a:t>
                </a:r>
                <a14:m>
                  <m:oMath xmlns:m="http://schemas.openxmlformats.org/officeDocument/2006/math">
                    <m:r>
                      <a:rPr lang="en-US" sz="3600" b="0" i="1" dirty="0" smtClean="0">
                        <a:latin typeface="Cambria Math" panose="02040503050406030204" pitchFamily="18" charset="0"/>
                        <a:cs typeface="Times New Roman" panose="02020603050405020304" pitchFamily="18" charset="0"/>
                      </a:rPr>
                      <m:t>𝑅𝐴𝑐𝑐</m:t>
                    </m:r>
                    <m:r>
                      <a:rPr lang="en-US" sz="3600" b="0" i="1" dirty="0" smtClean="0">
                        <a:latin typeface="Cambria Math" panose="02040503050406030204" pitchFamily="18" charset="0"/>
                        <a:cs typeface="Times New Roman" panose="02020603050405020304" pitchFamily="18" charset="0"/>
                      </a:rPr>
                      <m:t>=</m:t>
                    </m:r>
                    <m:f>
                      <m:fPr>
                        <m:ctrlPr>
                          <a:rPr lang="en-US" sz="3600" b="0" i="1" dirty="0" smtClean="0">
                            <a:latin typeface="Cambria Math" panose="02040503050406030204" pitchFamily="18" charset="0"/>
                            <a:cs typeface="Times New Roman" panose="02020603050405020304" pitchFamily="18" charset="0"/>
                          </a:rPr>
                        </m:ctrlPr>
                      </m:fPr>
                      <m:num>
                        <m:sSub>
                          <m:sSubPr>
                            <m:ctrlPr>
                              <a:rPr lang="en-US" sz="3600" b="0" i="1" dirty="0" smtClean="0">
                                <a:latin typeface="Cambria Math" panose="02040503050406030204" pitchFamily="18" charset="0"/>
                                <a:cs typeface="Times New Roman" panose="02020603050405020304" pitchFamily="18" charset="0"/>
                              </a:rPr>
                            </m:ctrlPr>
                          </m:sSubPr>
                          <m:e>
                            <m:r>
                              <a:rPr lang="en-US" sz="3600" b="0" i="1" dirty="0" smtClean="0">
                                <a:latin typeface="Cambria Math" panose="02040503050406030204" pitchFamily="18" charset="0"/>
                                <a:cs typeface="Times New Roman" panose="02020603050405020304" pitchFamily="18" charset="0"/>
                              </a:rPr>
                              <m:t>𝑁</m:t>
                            </m:r>
                          </m:e>
                          <m:sub>
                            <m:r>
                              <a:rPr lang="en-US" sz="3600" b="0" i="1" dirty="0" smtClean="0">
                                <a:latin typeface="Cambria Math" panose="02040503050406030204" pitchFamily="18" charset="0"/>
                                <a:cs typeface="Times New Roman" panose="02020603050405020304" pitchFamily="18" charset="0"/>
                              </a:rPr>
                              <m:t>𝑐𝑎𝑟</m:t>
                            </m:r>
                            <m:r>
                              <a:rPr lang="en-US" sz="36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sz="3600" b="0" i="1" dirty="0" smtClean="0">
                                <a:latin typeface="Cambria Math" panose="02040503050406030204" pitchFamily="18" charset="0"/>
                                <a:ea typeface="Cambria Math" panose="02040503050406030204" pitchFamily="18" charset="0"/>
                                <a:cs typeface="Times New Roman" panose="02020603050405020304" pitchFamily="18" charset="0"/>
                              </a:rPr>
                              <m:t>𝑐𝑎𝑟</m:t>
                            </m:r>
                          </m:sub>
                        </m:sSub>
                      </m:num>
                      <m:den>
                        <m:r>
                          <a:rPr lang="en-US" sz="3600" b="0" i="1" dirty="0" smtClean="0">
                            <a:latin typeface="Cambria Math" panose="02040503050406030204" pitchFamily="18" charset="0"/>
                            <a:cs typeface="Times New Roman" panose="02020603050405020304" pitchFamily="18" charset="0"/>
                          </a:rPr>
                          <m:t>𝑁</m:t>
                        </m:r>
                      </m:den>
                    </m:f>
                  </m:oMath>
                </a14:m>
                <a:endParaRPr lang="en-US" sz="3600" dirty="0">
                  <a:latin typeface="Times New Roman" panose="02020603050405020304" pitchFamily="18" charset="0"/>
                  <a:cs typeface="Times New Roman" panose="02020603050405020304" pitchFamily="18" charset="0"/>
                </a:endParaRPr>
              </a:p>
              <a:p>
                <a:pPr marL="571500" indent="-571500">
                  <a:spcAft>
                    <a:spcPts val="400"/>
                  </a:spcAft>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mAP@0.5 and car AP@0.5 measure the drop in detection accuracy from the clean baseline, overall and for cars specifically.</a:t>
                </a:r>
                <a:endParaRPr lang="en-US" sz="3600" b="1" dirty="0">
                  <a:solidFill>
                    <a:srgbClr val="9C2334"/>
                  </a:solidFill>
                  <a:latin typeface="Times New Roman" panose="02020603050405020304" pitchFamily="18" charset="0"/>
                  <a:cs typeface="Times New Roman" panose="02020603050405020304" pitchFamily="18" charset="0"/>
                </a:endParaRPr>
              </a:p>
            </p:txBody>
          </p:sp>
        </mc:Choice>
        <mc:Fallback>
          <p:sp>
            <p:nvSpPr>
              <p:cNvPr id="121" name="TextBox 120"/>
              <p:cNvSpPr txBox="1">
                <a:spLocks noRot="1" noChangeAspect="1" noMove="1" noResize="1" noEditPoints="1" noAdjustHandles="1" noChangeArrowheads="1" noChangeShapeType="1" noTextEdit="1"/>
              </p:cNvSpPr>
              <p:nvPr/>
            </p:nvSpPr>
            <p:spPr>
              <a:xfrm>
                <a:off x="15224759" y="6035040"/>
                <a:ext cx="13441680" cy="10411055"/>
              </a:xfrm>
              <a:prstGeom prst="rect">
                <a:avLst/>
              </a:prstGeom>
              <a:blipFill>
                <a:blip r:embed="rId8"/>
                <a:stretch>
                  <a:fillRect l="-1905" t="-1054" r="-2358" b="-123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5063BA9-C06E-3E0D-0F0A-D5EB62467670}"/>
              </a:ext>
            </a:extLst>
          </p:cNvPr>
          <p:cNvPicPr>
            <a:picLocks noChangeAspect="1"/>
          </p:cNvPicPr>
          <p:nvPr/>
        </p:nvPicPr>
        <p:blipFill>
          <a:blip r:embed="rId9"/>
          <a:stretch>
            <a:fillRect/>
          </a:stretch>
        </p:blipFill>
        <p:spPr>
          <a:xfrm>
            <a:off x="14950437" y="18366634"/>
            <a:ext cx="13990320" cy="11430000"/>
          </a:xfrm>
          <a:prstGeom prst="rect">
            <a:avLst/>
          </a:prstGeom>
        </p:spPr>
      </p:pic>
      <p:graphicFrame>
        <p:nvGraphicFramePr>
          <p:cNvPr id="6" name="Chart 5">
            <a:extLst>
              <a:ext uri="{FF2B5EF4-FFF2-40B4-BE49-F238E27FC236}">
                <a16:creationId xmlns:a16="http://schemas.microsoft.com/office/drawing/2014/main" id="{B13F432B-564F-667F-3FE8-90B827130B26}"/>
              </a:ext>
            </a:extLst>
          </p:cNvPr>
          <p:cNvGraphicFramePr>
            <a:graphicFrameLocks noGrp="1"/>
          </p:cNvGraphicFramePr>
          <p:nvPr>
            <p:extLst>
              <p:ext uri="{D42A27DB-BD31-4B8C-83A1-F6EECF244321}">
                <p14:modId xmlns:p14="http://schemas.microsoft.com/office/powerpoint/2010/main" val="3873058046"/>
              </p:ext>
            </p:extLst>
          </p:nvPr>
        </p:nvGraphicFramePr>
        <p:xfrm>
          <a:off x="29718000" y="8412480"/>
          <a:ext cx="13624560" cy="566928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8" name="Chart 7">
            <a:extLst>
              <a:ext uri="{FF2B5EF4-FFF2-40B4-BE49-F238E27FC236}">
                <a16:creationId xmlns:a16="http://schemas.microsoft.com/office/drawing/2014/main" id="{12D4B9FC-B75A-0466-4F54-31E838524707}"/>
              </a:ext>
            </a:extLst>
          </p:cNvPr>
          <p:cNvGraphicFramePr>
            <a:graphicFrameLocks noGrp="1"/>
          </p:cNvGraphicFramePr>
          <p:nvPr>
            <p:extLst>
              <p:ext uri="{D42A27DB-BD31-4B8C-83A1-F6EECF244321}">
                <p14:modId xmlns:p14="http://schemas.microsoft.com/office/powerpoint/2010/main" val="1296230502"/>
              </p:ext>
            </p:extLst>
          </p:nvPr>
        </p:nvGraphicFramePr>
        <p:xfrm>
          <a:off x="29786580" y="15058247"/>
          <a:ext cx="13624560" cy="4846320"/>
        </p:xfrm>
        <a:graphic>
          <a:graphicData uri="http://schemas.openxmlformats.org/drawingml/2006/chart">
            <c:chart xmlns:c="http://schemas.openxmlformats.org/drawingml/2006/chart" xmlns:r="http://schemas.openxmlformats.org/officeDocument/2006/relationships" r:id="rId11"/>
          </a:graphicData>
        </a:graphic>
      </p:graphicFrame>
      <p:sp>
        <p:nvSpPr>
          <p:cNvPr id="15" name="TextBox 14">
            <a:extLst>
              <a:ext uri="{FF2B5EF4-FFF2-40B4-BE49-F238E27FC236}">
                <a16:creationId xmlns:a16="http://schemas.microsoft.com/office/drawing/2014/main" id="{4C1B6016-3E6E-6B34-37DC-A82F9A6988E9}"/>
              </a:ext>
            </a:extLst>
          </p:cNvPr>
          <p:cNvSpPr txBox="1"/>
          <p:nvPr/>
        </p:nvSpPr>
        <p:spPr>
          <a:xfrm>
            <a:off x="29786580" y="14282928"/>
            <a:ext cx="13624560" cy="685800"/>
          </a:xfrm>
          <a:prstGeom prst="rect">
            <a:avLst/>
          </a:prstGeom>
          <a:noFill/>
        </p:spPr>
        <p:txBody>
          <a:bodyPr wrap="square">
            <a:spAutoFit/>
          </a:bodyPr>
          <a:lstStyle/>
          <a:p>
            <a:r>
              <a:rPr sz="4000" b="1" dirty="0">
                <a:solidFill>
                  <a:srgbClr val="9C2334"/>
                </a:solidFill>
                <a:latin typeface="Times New Roman"/>
              </a:rPr>
              <a:t>Detection Accuracy Under Attack (AP@0.5)</a:t>
            </a:r>
          </a:p>
        </p:txBody>
      </p:sp>
      <p:sp>
        <p:nvSpPr>
          <p:cNvPr id="17" name="TextBox 16">
            <a:extLst>
              <a:ext uri="{FF2B5EF4-FFF2-40B4-BE49-F238E27FC236}">
                <a16:creationId xmlns:a16="http://schemas.microsoft.com/office/drawing/2014/main" id="{EEEBDF35-4F97-9AFD-BBAA-C1AFE501377A}"/>
              </a:ext>
            </a:extLst>
          </p:cNvPr>
          <p:cNvSpPr txBox="1"/>
          <p:nvPr/>
        </p:nvSpPr>
        <p:spPr>
          <a:xfrm>
            <a:off x="29786580" y="7524346"/>
            <a:ext cx="13624560" cy="1323439"/>
          </a:xfrm>
          <a:prstGeom prst="rect">
            <a:avLst/>
          </a:prstGeom>
          <a:noFill/>
        </p:spPr>
        <p:txBody>
          <a:bodyPr wrap="square">
            <a:spAutoFit/>
          </a:bodyPr>
          <a:lstStyle/>
          <a:p>
            <a:r>
              <a:rPr lang="en-US" sz="4000" b="1" dirty="0">
                <a:solidFill>
                  <a:srgbClr val="9C2334"/>
                </a:solidFill>
                <a:latin typeface="Times New Roman"/>
              </a:rPr>
              <a:t>Per-Car Outcome by Patch Condition</a:t>
            </a:r>
          </a:p>
          <a:p>
            <a:endParaRPr sz="4000" b="1" dirty="0">
              <a:solidFill>
                <a:srgbClr val="9C2334"/>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564</TotalTime>
  <Words>703</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Sagar Dasgupta</dc:creator>
  <cp:lastModifiedBy>Aarav Pulsani</cp:lastModifiedBy>
  <cp:revision>13</cp:revision>
  <dcterms:created xsi:type="dcterms:W3CDTF">2023-03-30T17:12:24Z</dcterms:created>
  <dcterms:modified xsi:type="dcterms:W3CDTF">2026-07-20T15:53:53Z</dcterms:modified>
</cp:coreProperties>
</file>